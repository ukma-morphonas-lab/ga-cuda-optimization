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Dear committee members and attendees, I present to you a course paper on the topic: Optimization of Genetic Algorithm Computations through CUDA Parallel Processing.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of this research is to investigate whether CUDA-based GPU parallelization can significantly accelerate genetic algorithm operations compared to sequential CPU execution, and to determine the conditions under which this acceleration becomes effective. The hypothesis states that speedup will scale with population size and fitness function complexity, subject to Amdahl's Law and data transfer overhead.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review of existing approaches shows three categories of GPU-accelerated GA implementations: native CUDA C/C++ kernels, high-level framework abstractions like EvoJAX and EvoTorch, and Python-native CUDA development via Numba. Publication analysis on Semantic Scholar confirms that GPU-accelerated GAs are 28-39x less studied than established optimization domains, and Python-native kernel development is particularly rare. This gap motivates the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method develops custom CUDA kernels for all four GA operators using Python Numba JIT compilation. Each individual maps to one GPU thread, reducing per-generation fitness evaluation from O(n) to O(1). Four optimizations are applied: shared memory caches read-only data at 20x lower latency; persistent device buffers keep the population GPU-resident across generations, eliminating per-generation population transfers; pinned host memory enables direct DMA; and GPU-side RNG via Xoroshiro128p eliminates CPU-GPU synchronization for mutation.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benchmark is XOR perceptron training - a lightweight fitness function that isolates transfer and launch overhead. The GPU breaks even at population 100. At population 1000, speedup reaches 14.56x. GPU compute time stays nearly constant at 138-155 ms across a 20x population increase, while CPU time scales linearly from 100 to 2,250 ms. All differences are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the Traveling Salesman Problem with heavier O(n) fitness computation. Speedups reach 1.61x at 200 cities. The GPU also finds statistically better solutions. Increasing city count widens the GPU advantage even at fixed population sizes, confirming that speedup scales with fitness function complexity as hypothesized.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with literature confirms consistent patterns: the dominant bottleneck is host-device data transfer at 17-39% of GPU time, not kernel computation. Results align with Amdahl's Law predictions. The experimental code was refactored into a reusable library, and validation experiments confirmed statistical consistency with original benchmarks, confirming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output is an open-source Python library where you plug in your fitness function and get GPU acceleration without writing CUDA. For example: optimizing delivery routes for a fleet of vehicles - a TSP variant where evaluating thousands of candidate routes in parallel cuts optimization time from minutes to seconds. Or training a neural network's architecture through evolution, where each candidate network needs a full forward pass to score - exactly the kind of independent, repeated computation GPUs excel at. The library handles memory management, kernel launch, and RNG. Practical guidelines from this work: use populations above 100 for GPU benefit, keep data GPU-resident, cache read-only data in shared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what this work contributes: first, the experiments provide empirical data on how GPU and CPU execution times scale differently with population size, confirming the O(1) vs O(n) pattern with statistical tests. Second, the results help identify a practical breakeven threshold for entry-level mobile GPU hardware. Third, since Python-native Numba kernels for genetic algorithms are rarely benchmarked in the literature, this work adds a data point to that gap.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research directions include fully GPU-resident evolutionary loops to eliminate per-generation transfers, multi-objective optimization kernels, testing on higher-end hardware where the breakeven threshold should shift lower, and adaptive operator selection on GPU. The presentation is complete.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914400"/>
            <a:ext cx="9144000" cy="1371600"/>
          </a:xfrm>
          <a:prstGeom prst="rect">
            <a:avLst/>
          </a:prstGeom>
          <a:noFill/>
        </p:spPr>
        <p:txBody>
          <a:bodyPr wrap="square">
            <a:spAutoFit/>
          </a:bodyPr>
          <a:lstStyle/>
          <a:p>
            <a:pPr algn="ctr">
              <a:defRPr sz="3200" b="1"/>
            </a:pPr>
            <a:r>
              <a:t>Optimization of Genetic Algorithm Computations</a:t>
            </a:r>
            <a:br/>
            <a:r>
              <a:t>through CUDA Parallel Processing</a:t>
            </a:r>
          </a:p>
        </p:txBody>
      </p:sp>
      <p:sp>
        <p:nvSpPr>
          <p:cNvPr id="3" name="TextBox 2"/>
          <p:cNvSpPr txBox="1"/>
          <p:nvPr/>
        </p:nvSpPr>
        <p:spPr>
          <a:xfrm>
            <a:off x="1371600" y="2926080"/>
            <a:ext cx="9144000" cy="731520"/>
          </a:xfrm>
          <a:prstGeom prst="rect">
            <a:avLst/>
          </a:prstGeom>
          <a:noFill/>
        </p:spPr>
        <p:txBody>
          <a:bodyPr wrap="square">
            <a:spAutoFit/>
          </a:bodyPr>
          <a:lstStyle/>
          <a:p>
            <a:pPr algn="ctr">
              <a:defRPr sz="2200" b="0"/>
            </a:pPr>
            <a:r>
              <a:t>Aleksieienko Anastasiia</a:t>
            </a:r>
          </a:p>
        </p:txBody>
      </p:sp>
      <p:sp>
        <p:nvSpPr>
          <p:cNvPr id="4" name="TextBox 3"/>
          <p:cNvSpPr txBox="1"/>
          <p:nvPr/>
        </p:nvSpPr>
        <p:spPr>
          <a:xfrm>
            <a:off x="1371600" y="3657600"/>
            <a:ext cx="9144000" cy="548640"/>
          </a:xfrm>
          <a:prstGeom prst="rect">
            <a:avLst/>
          </a:prstGeom>
          <a:noFill/>
        </p:spPr>
        <p:txBody>
          <a:bodyPr wrap="square">
            <a:spAutoFit/>
          </a:bodyPr>
          <a:lstStyle/>
          <a:p>
            <a:pPr algn="ctr">
              <a:defRPr sz="1800" b="0"/>
            </a:pPr>
            <a:r>
              <a:t>Supervisor: Senior Lecturer Sergii Medvid</a:t>
            </a:r>
          </a:p>
        </p:txBody>
      </p:sp>
      <p:sp>
        <p:nvSpPr>
          <p:cNvPr id="5" name="TextBox 4"/>
          <p:cNvSpPr txBox="1"/>
          <p:nvPr/>
        </p:nvSpPr>
        <p:spPr>
          <a:xfrm>
            <a:off x="1371600" y="4389120"/>
            <a:ext cx="9144000" cy="548640"/>
          </a:xfrm>
          <a:prstGeom prst="rect">
            <a:avLst/>
          </a:prstGeom>
          <a:noFill/>
        </p:spPr>
        <p:txBody>
          <a:bodyPr wrap="square">
            <a:spAutoFit/>
          </a:bodyPr>
          <a:lstStyle/>
          <a:p>
            <a:pPr algn="ctr">
              <a:defRPr sz="1800" b="0"/>
            </a:pPr>
            <a:r>
              <a:t>NaUKMA, Department of Computer Science,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Research Goal</a:t>
            </a:r>
          </a:p>
        </p:txBody>
      </p:sp>
      <p:sp>
        <p:nvSpPr>
          <p:cNvPr id="3" name="TextBox 2"/>
          <p:cNvSpPr txBox="1"/>
          <p:nvPr/>
        </p:nvSpPr>
        <p:spPr>
          <a:xfrm>
            <a:off x="457200" y="1188720"/>
            <a:ext cx="10972800" cy="2286000"/>
          </a:xfrm>
          <a:prstGeom prst="rect">
            <a:avLst/>
          </a:prstGeom>
          <a:noFill/>
        </p:spPr>
        <p:txBody>
          <a:bodyPr wrap="square">
            <a:spAutoFit/>
          </a:bodyPr>
          <a:lstStyle/>
          <a:p>
            <a:pPr algn="l">
              <a:defRPr sz="2000" b="1"/>
            </a:pPr>
            <a:r>
              <a:t>Goal:</a:t>
            </a:r>
          </a:p>
          <a:p>
            <a:pPr>
              <a:spcBef>
                <a:spcPts val="400"/>
              </a:spcBef>
              <a:defRPr sz="1800" b="0"/>
            </a:pPr>
            <a:r>
              <a:t>Investigate whether CUDA-based GPU parallelization can significantly accelerate</a:t>
            </a:r>
          </a:p>
          <a:p>
            <a:pPr>
              <a:spcBef>
                <a:spcPts val="400"/>
              </a:spcBef>
              <a:defRPr sz="1800" b="0"/>
            </a:pPr>
            <a:r>
              <a:t>genetic algorithm operations compared to sequential CPU execution</a:t>
            </a:r>
          </a:p>
          <a:p>
            <a:pPr>
              <a:spcBef>
                <a:spcPts val="400"/>
              </a:spcBef>
              <a:defRPr sz="1800" b="0"/>
            </a:pPr>
            <a:r>
              <a:t>Determine conditions under which acceleration becomes effective</a:t>
            </a:r>
          </a:p>
          <a:p>
            <a:pPr>
              <a:spcBef>
                <a:spcPts val="400"/>
              </a:spcBef>
              <a:defRPr sz="800" b="0"/>
            </a:pPr>
          </a:p>
          <a:p>
            <a:pPr>
              <a:spcBef>
                <a:spcPts val="400"/>
              </a:spcBef>
              <a:defRPr sz="2000" b="1"/>
            </a:pPr>
            <a:r>
              <a:t>Hypothesis:</a:t>
            </a:r>
          </a:p>
          <a:p>
            <a:pPr>
              <a:spcBef>
                <a:spcPts val="400"/>
              </a:spcBef>
              <a:defRPr sz="1800" b="0"/>
            </a:pPr>
            <a:r>
              <a:t>Speedup scales with population size and fitness function complexity,</a:t>
            </a:r>
          </a:p>
          <a:p>
            <a:pPr>
              <a:spcBef>
                <a:spcPts val="400"/>
              </a:spcBef>
              <a:defRPr sz="1800" b="0"/>
            </a:pPr>
            <a:r>
              <a:t>subject to Amdahl's Law and data transfer overhead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Overview of Known Approaches</a:t>
            </a:r>
          </a:p>
        </p:txBody>
      </p:sp>
      <p:sp>
        <p:nvSpPr>
          <p:cNvPr id="3" name="TextBox 2"/>
          <p:cNvSpPr txBox="1"/>
          <p:nvPr/>
        </p:nvSpPr>
        <p:spPr>
          <a:xfrm>
            <a:off x="457200" y="1097280"/>
            <a:ext cx="5029200" cy="5029200"/>
          </a:xfrm>
          <a:prstGeom prst="rect">
            <a:avLst/>
          </a:prstGeom>
          <a:noFill/>
        </p:spPr>
        <p:txBody>
          <a:bodyPr wrap="square">
            <a:spAutoFit/>
          </a:bodyPr>
          <a:lstStyle/>
          <a:p>
            <a:pPr algn="l">
              <a:defRPr sz="1800" b="1"/>
            </a:pPr>
            <a:r>
              <a:t>Three categories of GPU-accelerated GA:</a:t>
            </a:r>
          </a:p>
          <a:p>
            <a:pPr>
              <a:spcBef>
                <a:spcPts val="400"/>
              </a:spcBef>
              <a:defRPr sz="1600" b="0"/>
            </a:pPr>
            <a:r>
              <a:t>1. Native CUDA C/C++ kernels</a:t>
            </a:r>
          </a:p>
          <a:p>
            <a:pPr>
              <a:spcBef>
                <a:spcPts val="400"/>
              </a:spcBef>
              <a:defRPr sz="1600" b="0"/>
            </a:pPr>
            <a:r>
              <a:t>2. High-level frameworks (EvoJAX, EvoTorch, EvoX)</a:t>
            </a:r>
          </a:p>
          <a:p>
            <a:pPr>
              <a:spcBef>
                <a:spcPts val="400"/>
              </a:spcBef>
              <a:defRPr sz="1600" b="0"/>
            </a:pPr>
            <a:r>
              <a:t>3. Python-native CUDA via Numba (rarely studied)</a:t>
            </a:r>
          </a:p>
          <a:p>
            <a:pPr>
              <a:spcBef>
                <a:spcPts val="400"/>
              </a:spcBef>
              <a:defRPr sz="800" b="0"/>
            </a:pPr>
          </a:p>
          <a:p>
            <a:pPr>
              <a:spcBef>
                <a:spcPts val="400"/>
              </a:spcBef>
              <a:defRPr sz="1800" b="1"/>
            </a:pPr>
            <a:r>
              <a:t>Research gap (Semantic Scholar):</a:t>
            </a:r>
          </a:p>
          <a:p>
            <a:pPr>
              <a:spcBef>
                <a:spcPts val="400"/>
              </a:spcBef>
              <a:defRPr sz="1600" b="0"/>
            </a:pPr>
            <a:r>
              <a:t>GPU-accelerated GAs: 28-39x less studied</a:t>
            </a:r>
          </a:p>
          <a:p>
            <a:pPr>
              <a:spcBef>
                <a:spcPts val="400"/>
              </a:spcBef>
              <a:defRPr sz="1600" b="0"/>
            </a:pPr>
            <a:r>
              <a:t>than established optimization domains</a:t>
            </a:r>
          </a:p>
          <a:p>
            <a:pPr>
              <a:spcBef>
                <a:spcPts val="400"/>
              </a:spcBef>
              <a:defRPr sz="1600" b="0"/>
            </a:pPr>
            <a:r>
              <a:t>Python-native kernel dev is particularly rare</a:t>
            </a:r>
          </a:p>
        </p:txBody>
      </p:sp>
      <p:pic>
        <p:nvPicPr>
          <p:cNvPr id="4" name="Picture 3" descr="ga-lifecycle.png"/>
          <p:cNvPicPr>
            <a:picLocks noChangeAspect="1"/>
          </p:cNvPicPr>
          <p:nvPr/>
        </p:nvPicPr>
        <p:blipFill>
          <a:blip r:embed="rId2"/>
          <a:stretch>
            <a:fillRect/>
          </a:stretch>
        </p:blipFill>
        <p:spPr>
          <a:xfrm>
            <a:off x="5943600" y="1097280"/>
            <a:ext cx="5486400" cy="1370670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Proposed Method - CUDA Kernel Design</a:t>
            </a:r>
          </a:p>
        </p:txBody>
      </p:sp>
      <p:sp>
        <p:nvSpPr>
          <p:cNvPr id="3" name="TextBox 2"/>
          <p:cNvSpPr txBox="1"/>
          <p:nvPr/>
        </p:nvSpPr>
        <p:spPr>
          <a:xfrm>
            <a:off x="457200" y="1097280"/>
            <a:ext cx="5029200" cy="5029200"/>
          </a:xfrm>
          <a:prstGeom prst="rect">
            <a:avLst/>
          </a:prstGeom>
          <a:noFill/>
        </p:spPr>
        <p:txBody>
          <a:bodyPr wrap="square">
            <a:spAutoFit/>
          </a:bodyPr>
          <a:lstStyle/>
          <a:p>
            <a:pPr algn="l">
              <a:defRPr sz="1800" b="1"/>
            </a:pPr>
            <a:r>
              <a:t>Thread mapping:</a:t>
            </a:r>
          </a:p>
          <a:p>
            <a:pPr>
              <a:spcBef>
                <a:spcPts val="400"/>
              </a:spcBef>
              <a:defRPr sz="1600" b="0"/>
            </a:pPr>
            <a:r>
              <a:t>One thread = one individual</a:t>
            </a:r>
          </a:p>
          <a:p>
            <a:pPr>
              <a:spcBef>
                <a:spcPts val="400"/>
              </a:spcBef>
              <a:defRPr sz="1600" b="0"/>
            </a:pPr>
            <a:r>
              <a:t>Per-generation complexity: O(n) -&gt; O(1)</a:t>
            </a:r>
          </a:p>
          <a:p>
            <a:pPr>
              <a:spcBef>
                <a:spcPts val="400"/>
              </a:spcBef>
              <a:defRPr sz="800" b="0"/>
            </a:pPr>
          </a:p>
          <a:p>
            <a:pPr>
              <a:spcBef>
                <a:spcPts val="400"/>
              </a:spcBef>
              <a:defRPr sz="1800" b="1"/>
            </a:pPr>
            <a:r>
              <a:t>Four optimizations:</a:t>
            </a:r>
          </a:p>
          <a:p>
            <a:pPr>
              <a:spcBef>
                <a:spcPts val="400"/>
              </a:spcBef>
              <a:defRPr sz="1600" b="0"/>
            </a:pPr>
            <a:r>
              <a:t>1. Shared Memory - cache read-only data (20x faster)</a:t>
            </a:r>
          </a:p>
          <a:p>
            <a:pPr>
              <a:spcBef>
                <a:spcPts val="400"/>
              </a:spcBef>
              <a:defRPr sz="1600" b="0"/>
            </a:pPr>
            <a:r>
              <a:t>2. Persistent Device Buffers - population stays on GPU</a:t>
            </a:r>
          </a:p>
          <a:p>
            <a:pPr>
              <a:spcBef>
                <a:spcPts val="400"/>
              </a:spcBef>
              <a:defRPr sz="1600" b="0"/>
            </a:pPr>
            <a:r>
              <a:t>3. Pinned Host Memory - direct DMA transfer</a:t>
            </a:r>
          </a:p>
          <a:p>
            <a:pPr>
              <a:spcBef>
                <a:spcPts val="400"/>
              </a:spcBef>
              <a:defRPr sz="1600" b="0"/>
            </a:pPr>
            <a:r>
              <a:t>4. GPU-side RNG (Xoroshiro128p) - no CPU sync</a:t>
            </a:r>
          </a:p>
        </p:txBody>
      </p:sp>
      <p:pic>
        <p:nvPicPr>
          <p:cNvPr id="4" name="Picture 3" descr="host_device_transfer.png"/>
          <p:cNvPicPr>
            <a:picLocks noChangeAspect="1"/>
          </p:cNvPicPr>
          <p:nvPr/>
        </p:nvPicPr>
        <p:blipFill>
          <a:blip r:embed="rId2"/>
          <a:stretch>
            <a:fillRect/>
          </a:stretch>
        </p:blipFill>
        <p:spPr>
          <a:xfrm>
            <a:off x="5943600" y="914400"/>
            <a:ext cx="5486400" cy="465320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Application - XOR Perceptron Benchmark</a:t>
            </a:r>
          </a:p>
        </p:txBody>
      </p:sp>
      <p:pic>
        <p:nvPicPr>
          <p:cNvPr id="3" name="Picture 2" descr="time_comparison.png"/>
          <p:cNvPicPr>
            <a:picLocks noChangeAspect="1"/>
          </p:cNvPicPr>
          <p:nvPr/>
        </p:nvPicPr>
        <p:blipFill>
          <a:blip r:embed="rId2"/>
          <a:stretch>
            <a:fillRect/>
          </a:stretch>
        </p:blipFill>
        <p:spPr>
          <a:xfrm>
            <a:off x="274320" y="1097280"/>
            <a:ext cx="5669280" cy="2807643"/>
          </a:xfrm>
          <a:prstGeom prst="rect">
            <a:avLst/>
          </a:prstGeom>
        </p:spPr>
      </p:pic>
      <p:pic>
        <p:nvPicPr>
          <p:cNvPr id="4" name="Picture 3" descr="speedup_vs_population.png"/>
          <p:cNvPicPr>
            <a:picLocks noChangeAspect="1"/>
          </p:cNvPicPr>
          <p:nvPr/>
        </p:nvPicPr>
        <p:blipFill>
          <a:blip r:embed="rId3"/>
          <a:stretch>
            <a:fillRect/>
          </a:stretch>
        </p:blipFill>
        <p:spPr>
          <a:xfrm>
            <a:off x="6217920" y="1097280"/>
            <a:ext cx="5669280" cy="3378662"/>
          </a:xfrm>
          <a:prstGeom prst="rect">
            <a:avLst/>
          </a:prstGeom>
        </p:spPr>
      </p:pic>
      <p:sp>
        <p:nvSpPr>
          <p:cNvPr id="5" name="TextBox 4"/>
          <p:cNvSpPr txBox="1"/>
          <p:nvPr/>
        </p:nvSpPr>
        <p:spPr>
          <a:xfrm>
            <a:off x="274320" y="4846320"/>
            <a:ext cx="5669280" cy="1645920"/>
          </a:xfrm>
          <a:prstGeom prst="rect">
            <a:avLst/>
          </a:prstGeom>
          <a:noFill/>
        </p:spPr>
        <p:txBody>
          <a:bodyPr wrap="square">
            <a:spAutoFit/>
          </a:bodyPr>
          <a:lstStyle/>
          <a:p>
            <a:pPr algn="l">
              <a:defRPr sz="1600" b="1"/>
            </a:pPr>
            <a:r>
              <a:t>Lightweight fitness function:</a:t>
            </a:r>
          </a:p>
          <a:p>
            <a:pPr>
              <a:spcBef>
                <a:spcPts val="400"/>
              </a:spcBef>
              <a:defRPr sz="1400" b="0"/>
            </a:pPr>
            <a:r>
              <a:t>Breakeven at population ~100</a:t>
            </a:r>
          </a:p>
          <a:p>
            <a:pPr>
              <a:spcBef>
                <a:spcPts val="400"/>
              </a:spcBef>
              <a:defRPr sz="1400" b="0"/>
            </a:pPr>
            <a:r>
              <a:t>14.56x speedup at population 1000</a:t>
            </a:r>
          </a:p>
        </p:txBody>
      </p:sp>
      <p:sp>
        <p:nvSpPr>
          <p:cNvPr id="6" name="TextBox 5"/>
          <p:cNvSpPr txBox="1"/>
          <p:nvPr/>
        </p:nvSpPr>
        <p:spPr>
          <a:xfrm>
            <a:off x="6217920" y="4846320"/>
            <a:ext cx="5669280" cy="1645920"/>
          </a:xfrm>
          <a:prstGeom prst="rect">
            <a:avLst/>
          </a:prstGeom>
          <a:noFill/>
        </p:spPr>
        <p:txBody>
          <a:bodyPr wrap="square">
            <a:spAutoFit/>
          </a:bodyPr>
          <a:lstStyle/>
          <a:p>
            <a:pPr algn="l">
              <a:defRPr sz="1600" b="1"/>
            </a:pPr>
            <a:r>
              <a:t>GPU scaling:</a:t>
            </a:r>
          </a:p>
          <a:p>
            <a:pPr>
              <a:spcBef>
                <a:spcPts val="400"/>
              </a:spcBef>
              <a:defRPr sz="1400" b="0"/>
            </a:pPr>
            <a:r>
              <a:t>GPU time nearly constant (138-155 ms)</a:t>
            </a:r>
          </a:p>
          <a:p>
            <a:pPr>
              <a:spcBef>
                <a:spcPts val="400"/>
              </a:spcBef>
              <a:defRPr sz="1400" b="0"/>
            </a:pPr>
            <a:r>
              <a:t>CPU time scales linearly (100-2,250 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Application - Traveling Salesman Problem</a:t>
            </a:r>
          </a:p>
        </p:txBody>
      </p:sp>
      <p:pic>
        <p:nvPicPr>
          <p:cNvPr id="3" name="Picture 2" descr="tsp_time_comparison_population_size.png"/>
          <p:cNvPicPr>
            <a:picLocks noChangeAspect="1"/>
          </p:cNvPicPr>
          <p:nvPr/>
        </p:nvPicPr>
        <p:blipFill>
          <a:blip r:embed="rId2"/>
          <a:stretch>
            <a:fillRect/>
          </a:stretch>
        </p:blipFill>
        <p:spPr>
          <a:xfrm>
            <a:off x="274320" y="1097280"/>
            <a:ext cx="5669280" cy="2807643"/>
          </a:xfrm>
          <a:prstGeom prst="rect">
            <a:avLst/>
          </a:prstGeom>
        </p:spPr>
      </p:pic>
      <p:pic>
        <p:nvPicPr>
          <p:cNvPr id="4" name="Picture 3" descr="tsp_speedup_vs_population_size.png"/>
          <p:cNvPicPr>
            <a:picLocks noChangeAspect="1"/>
          </p:cNvPicPr>
          <p:nvPr/>
        </p:nvPicPr>
        <p:blipFill>
          <a:blip r:embed="rId3"/>
          <a:stretch>
            <a:fillRect/>
          </a:stretch>
        </p:blipFill>
        <p:spPr>
          <a:xfrm>
            <a:off x="6217920" y="1097280"/>
            <a:ext cx="5669280" cy="3378662"/>
          </a:xfrm>
          <a:prstGeom prst="rect">
            <a:avLst/>
          </a:prstGeom>
        </p:spPr>
      </p:pic>
      <p:sp>
        <p:nvSpPr>
          <p:cNvPr id="5" name="TextBox 4"/>
          <p:cNvSpPr txBox="1"/>
          <p:nvPr/>
        </p:nvSpPr>
        <p:spPr>
          <a:xfrm>
            <a:off x="274320" y="4846320"/>
            <a:ext cx="5669280" cy="1645920"/>
          </a:xfrm>
          <a:prstGeom prst="rect">
            <a:avLst/>
          </a:prstGeom>
          <a:noFill/>
        </p:spPr>
        <p:txBody>
          <a:bodyPr wrap="square">
            <a:spAutoFit/>
          </a:bodyPr>
          <a:lstStyle/>
          <a:p>
            <a:pPr algn="l">
              <a:defRPr sz="1600" b="1"/>
            </a:pPr>
            <a:r>
              <a:t>Heavy fitness: O(n) per individual:</a:t>
            </a:r>
          </a:p>
          <a:p>
            <a:pPr>
              <a:spcBef>
                <a:spcPts val="400"/>
              </a:spcBef>
              <a:defRPr sz="1400" b="0"/>
            </a:pPr>
            <a:r>
              <a:t>Up to 1.61x speedup at 200 cities</a:t>
            </a:r>
          </a:p>
          <a:p>
            <a:pPr>
              <a:spcBef>
                <a:spcPts val="400"/>
              </a:spcBef>
              <a:defRPr sz="1400" b="0"/>
            </a:pPr>
            <a:r>
              <a:t>Better solution quality (p &lt; 0.001)</a:t>
            </a:r>
          </a:p>
        </p:txBody>
      </p:sp>
      <p:sp>
        <p:nvSpPr>
          <p:cNvPr id="6" name="TextBox 5"/>
          <p:cNvSpPr txBox="1"/>
          <p:nvPr/>
        </p:nvSpPr>
        <p:spPr>
          <a:xfrm>
            <a:off x="6217920" y="4846320"/>
            <a:ext cx="5669280" cy="1645920"/>
          </a:xfrm>
          <a:prstGeom prst="rect">
            <a:avLst/>
          </a:prstGeom>
          <a:noFill/>
        </p:spPr>
        <p:txBody>
          <a:bodyPr wrap="square">
            <a:spAutoFit/>
          </a:bodyPr>
          <a:lstStyle/>
          <a:p>
            <a:pPr algn="l">
              <a:defRPr sz="1600" b="1"/>
            </a:pPr>
            <a:r>
              <a:t>Scaling pattern:</a:t>
            </a:r>
          </a:p>
          <a:p>
            <a:pPr>
              <a:spcBef>
                <a:spcPts val="400"/>
              </a:spcBef>
              <a:defRPr sz="1400" b="0"/>
            </a:pPr>
            <a:r>
              <a:t>Larger city count widens GPU advantage</a:t>
            </a:r>
          </a:p>
          <a:p>
            <a:pPr>
              <a:spcBef>
                <a:spcPts val="400"/>
              </a:spcBef>
              <a:defRPr sz="1400" b="0"/>
            </a:pPr>
            <a:r>
              <a:t>Confirms complexity-dependent speedup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Comparison with Known Results</a:t>
            </a:r>
          </a:p>
        </p:txBody>
      </p:sp>
      <p:pic>
        <p:nvPicPr>
          <p:cNvPr id="3" name="Picture 2" descr="gpu_time_breakdown.png"/>
          <p:cNvPicPr>
            <a:picLocks noChangeAspect="1"/>
          </p:cNvPicPr>
          <p:nvPr/>
        </p:nvPicPr>
        <p:blipFill>
          <a:blip r:embed="rId2"/>
          <a:stretch>
            <a:fillRect/>
          </a:stretch>
        </p:blipFill>
        <p:spPr>
          <a:xfrm>
            <a:off x="274320" y="1097280"/>
            <a:ext cx="5669280" cy="3374844"/>
          </a:xfrm>
          <a:prstGeom prst="rect">
            <a:avLst/>
          </a:prstGeom>
        </p:spPr>
      </p:pic>
      <p:pic>
        <p:nvPicPr>
          <p:cNvPr id="4" name="Picture 3" descr="comparison_speedup.png"/>
          <p:cNvPicPr>
            <a:picLocks noChangeAspect="1"/>
          </p:cNvPicPr>
          <p:nvPr/>
        </p:nvPicPr>
        <p:blipFill>
          <a:blip r:embed="rId3"/>
          <a:stretch>
            <a:fillRect/>
          </a:stretch>
        </p:blipFill>
        <p:spPr>
          <a:xfrm>
            <a:off x="6217920" y="1097280"/>
            <a:ext cx="5669280" cy="3442366"/>
          </a:xfrm>
          <a:prstGeom prst="rect">
            <a:avLst/>
          </a:prstGeom>
        </p:spPr>
      </p:pic>
      <p:sp>
        <p:nvSpPr>
          <p:cNvPr id="5" name="TextBox 4"/>
          <p:cNvSpPr txBox="1"/>
          <p:nvPr/>
        </p:nvSpPr>
        <p:spPr>
          <a:xfrm>
            <a:off x="274320" y="4846320"/>
            <a:ext cx="10972800" cy="1828800"/>
          </a:xfrm>
          <a:prstGeom prst="rect">
            <a:avLst/>
          </a:prstGeom>
          <a:noFill/>
        </p:spPr>
        <p:txBody>
          <a:bodyPr wrap="square">
            <a:spAutoFit/>
          </a:bodyPr>
          <a:lstStyle/>
          <a:p>
            <a:pPr algn="l">
              <a:defRPr sz="1800" b="1"/>
            </a:pPr>
            <a:r>
              <a:t>Key patterns:</a:t>
            </a:r>
          </a:p>
          <a:p>
            <a:pPr>
              <a:spcBef>
                <a:spcPts val="400"/>
              </a:spcBef>
              <a:defRPr sz="1600" b="0"/>
            </a:pPr>
            <a:r>
              <a:t>Transfer overhead: 17-39% of GPU wall time (dominant bottleneck, not kernel computation)</a:t>
            </a:r>
          </a:p>
          <a:p>
            <a:pPr>
              <a:spcBef>
                <a:spcPts val="400"/>
              </a:spcBef>
              <a:defRPr sz="1600" b="0"/>
            </a:pPr>
            <a:r>
              <a:t>Results align with Amdahl's Law: Speedup = 1 / ((1-P) + P/N)</a:t>
            </a:r>
          </a:p>
          <a:p>
            <a:pPr>
              <a:spcBef>
                <a:spcPts val="400"/>
              </a:spcBef>
              <a:defRPr sz="1600" b="0"/>
            </a:pPr>
            <a:r>
              <a:t>Library validation confirms reproducibility with original benchmarks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Practical Significance</a:t>
            </a:r>
          </a:p>
        </p:txBody>
      </p:sp>
      <p:sp>
        <p:nvSpPr>
          <p:cNvPr id="3" name="TextBox 2"/>
          <p:cNvSpPr txBox="1"/>
          <p:nvPr/>
        </p:nvSpPr>
        <p:spPr>
          <a:xfrm>
            <a:off x="457200" y="1188720"/>
            <a:ext cx="5303520" cy="4572000"/>
          </a:xfrm>
          <a:prstGeom prst="rect">
            <a:avLst/>
          </a:prstGeom>
          <a:noFill/>
        </p:spPr>
        <p:txBody>
          <a:bodyPr wrap="square">
            <a:spAutoFit/>
          </a:bodyPr>
          <a:lstStyle/>
          <a:p>
            <a:pPr algn="l">
              <a:defRPr sz="2000" b="1"/>
            </a:pPr>
            <a:r>
              <a:t>Open-source library: py-cuda-ga</a:t>
            </a:r>
          </a:p>
          <a:p>
            <a:pPr>
              <a:spcBef>
                <a:spcPts val="400"/>
              </a:spcBef>
              <a:defRPr sz="1600" b="0"/>
            </a:pPr>
            <a:r>
              <a:t>Plug in your fitness function, get GPU acceleration</a:t>
            </a:r>
          </a:p>
          <a:p>
            <a:pPr>
              <a:spcBef>
                <a:spcPts val="400"/>
              </a:spcBef>
              <a:defRPr sz="1600" b="0"/>
            </a:pPr>
            <a:r>
              <a:t>No need to write CUDA code</a:t>
            </a:r>
          </a:p>
          <a:p>
            <a:pPr>
              <a:spcBef>
                <a:spcPts val="400"/>
              </a:spcBef>
              <a:defRPr sz="800" b="0"/>
            </a:pPr>
          </a:p>
          <a:p>
            <a:pPr>
              <a:spcBef>
                <a:spcPts val="400"/>
              </a:spcBef>
              <a:defRPr sz="1800" b="1"/>
            </a:pPr>
            <a:r>
              <a:t>Example applications:</a:t>
            </a:r>
          </a:p>
          <a:p>
            <a:pPr>
              <a:spcBef>
                <a:spcPts val="400"/>
              </a:spcBef>
              <a:defRPr sz="1600" b="0"/>
            </a:pPr>
            <a:r>
              <a:t>Delivery route optimization (TSP variant) -</a:t>
            </a:r>
          </a:p>
          <a:p>
            <a:pPr>
              <a:spcBef>
                <a:spcPts val="400"/>
              </a:spcBef>
              <a:defRPr sz="1600" b="0"/>
            </a:pPr>
            <a:r>
              <a:t>  thousands of routes evaluated in parallel</a:t>
            </a:r>
          </a:p>
          <a:p>
            <a:pPr>
              <a:spcBef>
                <a:spcPts val="400"/>
              </a:spcBef>
              <a:defRPr sz="1600" b="0"/>
            </a:pPr>
            <a:r>
              <a:t>Neural architecture search -</a:t>
            </a:r>
          </a:p>
          <a:p>
            <a:pPr>
              <a:spcBef>
                <a:spcPts val="400"/>
              </a:spcBef>
              <a:defRPr sz="1600" b="0"/>
            </a:pPr>
            <a:r>
              <a:t>  each candidate network scored independently</a:t>
            </a:r>
          </a:p>
        </p:txBody>
      </p:sp>
      <p:sp>
        <p:nvSpPr>
          <p:cNvPr id="4" name="TextBox 3"/>
          <p:cNvSpPr txBox="1"/>
          <p:nvPr/>
        </p:nvSpPr>
        <p:spPr>
          <a:xfrm>
            <a:off x="6400800" y="1188720"/>
            <a:ext cx="5303520" cy="4572000"/>
          </a:xfrm>
          <a:prstGeom prst="rect">
            <a:avLst/>
          </a:prstGeom>
          <a:noFill/>
        </p:spPr>
        <p:txBody>
          <a:bodyPr wrap="square">
            <a:spAutoFit/>
          </a:bodyPr>
          <a:lstStyle/>
          <a:p>
            <a:pPr algn="l">
              <a:defRPr sz="2000" b="1"/>
            </a:pPr>
            <a:r>
              <a:t>Practical guidelines:</a:t>
            </a:r>
          </a:p>
          <a:p>
            <a:pPr>
              <a:spcBef>
                <a:spcPts val="400"/>
              </a:spcBef>
              <a:defRPr sz="1600" b="0"/>
            </a:pPr>
            <a:r>
              <a:t>Use populations above 100 for GPU benefit</a:t>
            </a:r>
          </a:p>
          <a:p>
            <a:pPr>
              <a:spcBef>
                <a:spcPts val="400"/>
              </a:spcBef>
              <a:defRPr sz="1600" b="0"/>
            </a:pPr>
            <a:r>
              <a:t>Keep data GPU-resident across generations</a:t>
            </a:r>
          </a:p>
          <a:p>
            <a:pPr>
              <a:spcBef>
                <a:spcPts val="400"/>
              </a:spcBef>
              <a:defRPr sz="1600" b="0"/>
            </a:pPr>
            <a:r>
              <a:t>Cache read-only data in shared memory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What This Work Adds</a:t>
            </a:r>
          </a:p>
        </p:txBody>
      </p:sp>
      <p:sp>
        <p:nvSpPr>
          <p:cNvPr id="3" name="TextBox 2"/>
          <p:cNvSpPr txBox="1"/>
          <p:nvPr/>
        </p:nvSpPr>
        <p:spPr>
          <a:xfrm>
            <a:off x="914400" y="1371600"/>
            <a:ext cx="10058400" cy="4572000"/>
          </a:xfrm>
          <a:prstGeom prst="rect">
            <a:avLst/>
          </a:prstGeom>
          <a:noFill/>
        </p:spPr>
        <p:txBody>
          <a:bodyPr wrap="square">
            <a:spAutoFit/>
          </a:bodyPr>
          <a:lstStyle/>
          <a:p>
            <a:pPr algn="l">
              <a:spcAft>
                <a:spcPts val="800"/>
              </a:spcAft>
              <a:defRPr sz="2000" b="0"/>
            </a:pPr>
            <a:r>
              <a:t>1.  Empirical data on GPU vs CPU scaling with population size</a:t>
            </a:r>
          </a:p>
          <a:p>
            <a:pPr>
              <a:spcBef>
                <a:spcPts val="400"/>
              </a:spcBef>
              <a:spcAft>
                <a:spcPts val="2000"/>
              </a:spcAft>
              <a:defRPr sz="1800" b="0"/>
            </a:pPr>
            <a:r>
              <a:t>     O(1) vs O(n) pattern confirmed with statistical tests</a:t>
            </a:r>
          </a:p>
          <a:p>
            <a:pPr>
              <a:spcBef>
                <a:spcPts val="400"/>
              </a:spcBef>
              <a:defRPr sz="800" b="0"/>
            </a:pPr>
          </a:p>
          <a:p>
            <a:pPr>
              <a:spcBef>
                <a:spcPts val="400"/>
              </a:spcBef>
              <a:spcAft>
                <a:spcPts val="2000"/>
              </a:spcAft>
              <a:defRPr sz="2000" b="0"/>
            </a:pPr>
            <a:r>
              <a:t>2.  Practical breakeven threshold identified for entry-level mobile GPU</a:t>
            </a:r>
          </a:p>
          <a:p>
            <a:pPr>
              <a:spcBef>
                <a:spcPts val="400"/>
              </a:spcBef>
              <a:defRPr sz="800" b="0"/>
            </a:pPr>
          </a:p>
          <a:p>
            <a:pPr>
              <a:spcBef>
                <a:spcPts val="400"/>
              </a:spcBef>
              <a:defRPr sz="2000" b="0"/>
            </a:pPr>
            <a:r>
              <a:t>3.  A data point for an underexplored area:</a:t>
            </a:r>
          </a:p>
          <a:p>
            <a:pPr>
              <a:spcBef>
                <a:spcPts val="400"/>
              </a:spcBef>
              <a:defRPr sz="1800" b="0"/>
            </a:pPr>
            <a:r>
              <a:t>     Python-native Numba kernels for genetic algorithms</a:t>
            </a:r>
          </a:p>
          <a:p>
            <a:pPr>
              <a:spcBef>
                <a:spcPts val="400"/>
              </a:spcBef>
              <a:defRPr sz="1200" b="0"/>
            </a:pPr>
          </a:p>
          <a:p>
            <a:pPr>
              <a:spcBef>
                <a:spcPts val="400"/>
              </a:spcBef>
              <a:defRPr sz="800" b="0"/>
            </a:pPr>
          </a:p>
          <a:p>
            <a:pPr>
              <a:spcBef>
                <a:spcPts val="400"/>
              </a:spcBef>
              <a:defRPr sz="2200" b="1"/>
            </a:pPr>
            <a:r>
              <a:t>Hypothesis: Confirmed</a:t>
            </a:r>
          </a:p>
          <a:p>
            <a:pPr>
              <a:spcBef>
                <a:spcPts val="400"/>
              </a:spcBef>
              <a:defRPr sz="1800" b="0"/>
            </a:pPr>
            <a:r>
              <a:t>Speedups: 1.15x to 14.56x  |  All results significant (p &lt; 0.05, d &gt; 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pPr>
            <a:r>
              <a:t>Future Research</a:t>
            </a:r>
          </a:p>
        </p:txBody>
      </p:sp>
      <p:sp>
        <p:nvSpPr>
          <p:cNvPr id="3" name="TextBox 2"/>
          <p:cNvSpPr txBox="1"/>
          <p:nvPr/>
        </p:nvSpPr>
        <p:spPr>
          <a:xfrm>
            <a:off x="914400" y="1371600"/>
            <a:ext cx="10058400" cy="3200400"/>
          </a:xfrm>
          <a:prstGeom prst="rect">
            <a:avLst/>
          </a:prstGeom>
          <a:noFill/>
        </p:spPr>
        <p:txBody>
          <a:bodyPr wrap="square">
            <a:spAutoFit/>
          </a:bodyPr>
          <a:lstStyle/>
          <a:p>
            <a:pPr algn="l">
              <a:defRPr sz="2000" b="1"/>
            </a:pPr>
            <a:r>
              <a:t>Directions:</a:t>
            </a:r>
          </a:p>
          <a:p>
            <a:pPr>
              <a:spcBef>
                <a:spcPts val="400"/>
              </a:spcBef>
              <a:defRPr sz="1800" b="0"/>
            </a:pPr>
            <a:r>
              <a:t>Fully GPU-resident evolutionary loop (eliminate per-generation transfers)</a:t>
            </a:r>
          </a:p>
          <a:p>
            <a:pPr>
              <a:spcBef>
                <a:spcPts val="400"/>
              </a:spcBef>
              <a:defRPr sz="1800" b="0"/>
            </a:pPr>
            <a:r>
              <a:t>Multi-objective optimization kernels</a:t>
            </a:r>
          </a:p>
          <a:p>
            <a:pPr>
              <a:spcBef>
                <a:spcPts val="400"/>
              </a:spcBef>
              <a:defRPr sz="1800" b="0"/>
            </a:pPr>
            <a:r>
              <a:t>Higher-end hardware (lower breakeven threshold)</a:t>
            </a:r>
          </a:p>
          <a:p>
            <a:pPr>
              <a:spcBef>
                <a:spcPts val="400"/>
              </a:spcBef>
              <a:defRPr sz="1800" b="0"/>
            </a:pPr>
            <a:r>
              <a:t>Adaptive operator selection on GPU</a:t>
            </a:r>
          </a:p>
        </p:txBody>
      </p:sp>
      <p:sp>
        <p:nvSpPr>
          <p:cNvPr id="4" name="TextBox 3"/>
          <p:cNvSpPr txBox="1"/>
          <p:nvPr/>
        </p:nvSpPr>
        <p:spPr>
          <a:xfrm>
            <a:off x="914400" y="5029200"/>
            <a:ext cx="10058400" cy="914400"/>
          </a:xfrm>
          <a:prstGeom prst="rect">
            <a:avLst/>
          </a:prstGeom>
          <a:noFill/>
        </p:spPr>
        <p:txBody>
          <a:bodyPr wrap="square">
            <a:spAutoFit/>
          </a:bodyPr>
          <a:lstStyle/>
          <a:p>
            <a:pPr algn="ctr">
              <a:defRPr sz="2400" b="1"/>
            </a:pPr>
            <a: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